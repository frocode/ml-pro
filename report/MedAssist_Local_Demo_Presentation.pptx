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200">
                <a:solidFill>
                  <a:srgbClr val="1A477A"/>
                </a:solidFill>
              </a:defRPr>
            </a:pPr>
            <a:r>
              <a:t>MedAssist Local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Private Healthcare Q&amp;A with Local LLM + RAG</a:t>
            </a:r>
          </a:p>
          <a:p>
            <a:r>
              <a:t>ML Final Project — Technical Track 1</a:t>
            </a:r>
          </a:p>
          <a:p>
            <a:r>
              <a:t>[Your Name(s)] —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477A"/>
                </a:solidFill>
              </a:defRPr>
            </a:pPr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Medical information is scattered across long documents and websites.</a:t>
            </a:r>
          </a:p>
          <a:p>
            <a:pPr>
              <a:defRPr sz="2000"/>
            </a:pPr>
            <a:r>
              <a:t>Patients and students need quick, trustworthy answers with sources.</a:t>
            </a:r>
          </a:p>
          <a:p>
            <a:pPr>
              <a:defRPr sz="2000"/>
            </a:pPr>
            <a:r>
              <a:t>Cloud AI raises privacy concerns for sensitive health topics.</a:t>
            </a:r>
          </a:p>
          <a:p>
            <a:pPr>
              <a:defRPr sz="2000"/>
            </a:pPr>
            <a:r>
              <a:t>Goal: Build a local, knowledge-aware assistant that cites its 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477A"/>
                </a:solidFill>
              </a:defRPr>
            </a:pPr>
            <a: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Application area: Healthcare (informational Q&amp;A only).</a:t>
            </a:r>
          </a:p>
          <a:p>
            <a:pPr>
              <a:defRPr sz="2000"/>
            </a:pPr>
            <a:r>
              <a:t>Technical track: Local LLM + Retrieval-Augmented Generation (RAG).</a:t>
            </a:r>
          </a:p>
          <a:p>
            <a:pPr>
              <a:defRPr sz="2000"/>
            </a:pPr>
            <a:r>
              <a:t>Runs fully offline on a local machine — no external API calls.</a:t>
            </a:r>
          </a:p>
          <a:p>
            <a:pPr>
              <a:defRPr sz="2000"/>
            </a:pPr>
            <a:r>
              <a:t>Disclaimer: Not a substitute for professional medical advice.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477A"/>
                </a:solidFill>
              </a:defRPr>
            </a:pPr>
            <a:r>
              <a:t>Why Local LLM +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RAG grounds answers in retrieved documents → reduces hallucinations.</a:t>
            </a:r>
          </a:p>
          <a:p>
            <a:pPr>
              <a:defRPr sz="2000"/>
            </a:pPr>
            <a:r>
              <a:t>Local deployment (Ollama) keeps data private on the user's device.</a:t>
            </a:r>
          </a:p>
          <a:p>
            <a:pPr>
              <a:defRPr sz="2000"/>
            </a:pPr>
            <a:r>
              <a:t>No model training from scratch — uses pre-trained LLM + embeddings.</a:t>
            </a:r>
          </a:p>
          <a:p>
            <a:pPr>
              <a:defRPr sz="2000"/>
            </a:pPr>
            <a:r>
              <a:t>Clear, measurable evaluation: retrieval accuracy + answer quality.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477A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User submits a medical question via web UI (Streamlit).</a:t>
            </a:r>
          </a:p>
          <a:p>
            <a:pPr>
              <a:defRPr sz="2000"/>
            </a:pPr>
            <a:r>
              <a:t>2. Question is embedded with sentence-transformers.</a:t>
            </a:r>
          </a:p>
          <a:p>
            <a:pPr>
              <a:defRPr sz="2000"/>
            </a:pPr>
            <a:r>
              <a:t>3. ChromaDB retrieves top-K most similar text chunks.</a:t>
            </a:r>
          </a:p>
          <a:p>
            <a:pPr>
              <a:defRPr sz="2000"/>
            </a:pPr>
            <a:r>
              <a:t>4. Retrieved context + question are sent to local LLM (Ollama).</a:t>
            </a:r>
          </a:p>
          <a:p>
            <a:pPr>
              <a:defRPr sz="2000"/>
            </a:pPr>
            <a:r>
              <a:t>5. System returns answer with source citations and scores.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477A"/>
                </a:solidFill>
              </a:defRPr>
            </a:pPr>
            <a: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User Question</a:t>
            </a:r>
          </a:p>
          <a:p>
            <a:pPr>
              <a:defRPr sz="2000"/>
            </a:pPr>
            <a:r>
              <a:t>    ↓</a:t>
            </a:r>
          </a:p>
          <a:p>
            <a:pPr>
              <a:defRPr sz="2000"/>
            </a:pPr>
            <a:r>
              <a:t>Embedding Model (all-MiniLM-L6-v2)</a:t>
            </a:r>
          </a:p>
          <a:p>
            <a:pPr>
              <a:defRPr sz="2000"/>
            </a:pPr>
            <a:r>
              <a:t>    ↓</a:t>
            </a:r>
          </a:p>
          <a:p>
            <a:pPr>
              <a:defRPr sz="2000"/>
            </a:pPr>
            <a:r>
              <a:t>Vector Database (ChromaDB) → Top-K Chunks</a:t>
            </a:r>
          </a:p>
          <a:p>
            <a:pPr>
              <a:defRPr sz="2000"/>
            </a:pPr>
            <a:r>
              <a:t>    ↓</a:t>
            </a:r>
          </a:p>
          <a:p>
            <a:pPr>
              <a:defRPr sz="2000"/>
            </a:pPr>
            <a:r>
              <a:t>Prompt Builder (context + question)</a:t>
            </a:r>
          </a:p>
          <a:p>
            <a:pPr>
              <a:defRPr sz="2000"/>
            </a:pPr>
            <a:r>
              <a:t>    ↓</a:t>
            </a:r>
          </a:p>
          <a:p>
            <a:pPr>
              <a:defRPr sz="2000"/>
            </a:pPr>
            <a:r>
              <a:t>Local LLM (Ollama — Llama 3.2 / Mistral)</a:t>
            </a:r>
          </a:p>
          <a:p>
            <a:pPr>
              <a:defRPr sz="2000"/>
            </a:pPr>
            <a:r>
              <a:t>    ↓</a:t>
            </a:r>
          </a:p>
          <a:p>
            <a:pPr>
              <a:defRPr sz="2000"/>
            </a:pPr>
            <a:r>
              <a:t>Answer + Citations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477A"/>
                </a:solidFill>
              </a:defRPr>
            </a:pPr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Primary: MedQuAD (Hugging Face) — NIH-sourced medical Q&amp;A pairs.</a:t>
            </a:r>
          </a:p>
          <a:p>
            <a:pPr>
              <a:defRPr sz="2000"/>
            </a:pPr>
            <a:r>
              <a:t>Optional: Public health PDFs (WHO fact sheets, drug leaflets).</a:t>
            </a:r>
          </a:p>
          <a:p>
            <a:pPr>
              <a:defRPr sz="2000"/>
            </a:pPr>
            <a:r>
              <a:t>Preprocessing: text cleaning → chunking (300–500 tokens, 50 overlap).</a:t>
            </a:r>
          </a:p>
          <a:p>
            <a:pPr>
              <a:defRPr sz="2000"/>
            </a:pPr>
            <a:r>
              <a:t>Metadata stored per chunk: source URL, question ID, chunk ID.</a:t>
            </a:r>
          </a:p>
          <a:p>
            <a:pPr>
              <a:defRPr sz="2000"/>
            </a:pPr>
            <a:r>
              <a:t>Target index size: ~1,000–5,000 chunks for the demo.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477A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Language: Python 3.10+</a:t>
            </a:r>
          </a:p>
          <a:p>
            <a:pPr>
              <a:defRPr sz="2000"/>
            </a:pPr>
            <a:r>
              <a:t>LLM runtime: Ollama (llama3.2 or mistral)</a:t>
            </a:r>
          </a:p>
          <a:p>
            <a:pPr>
              <a:defRPr sz="2000"/>
            </a:pPr>
            <a:r>
              <a:t>Embeddings: sentence-transformers / all-MiniLM-L6-v2</a:t>
            </a:r>
          </a:p>
          <a:p>
            <a:pPr>
              <a:defRPr sz="2000"/>
            </a:pPr>
            <a:r>
              <a:t>Vector store: ChromaDB</a:t>
            </a:r>
          </a:p>
          <a:p>
            <a:pPr>
              <a:defRPr sz="2000"/>
            </a:pPr>
            <a:r>
              <a:t>Demo UI: Streamlit</a:t>
            </a:r>
          </a:p>
          <a:p>
            <a:pPr>
              <a:defRPr sz="2000"/>
            </a:pPr>
            <a:r>
              <a:t>Evaluation: scikit-learn, rouge-score, custom retrieval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477A"/>
                </a:solidFill>
              </a:defRPr>
            </a:pPr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Phase 1 — Data: download MedQuAD, chunk, embed, index in ChromaDB.</a:t>
            </a:r>
          </a:p>
          <a:p>
            <a:pPr>
              <a:defRPr sz="2000"/>
            </a:pPr>
            <a:r>
              <a:t>Phase 2 — RAG core: retrieval + prompt template + Ollama generation.</a:t>
            </a:r>
          </a:p>
          <a:p>
            <a:pPr>
              <a:defRPr sz="2000"/>
            </a:pPr>
            <a:r>
              <a:t>Phase 3 — UI: Streamlit app with question input and source panel.</a:t>
            </a:r>
          </a:p>
          <a:p>
            <a:pPr>
              <a:defRPr sz="2000"/>
            </a:pPr>
            <a:r>
              <a:t>Phase 4 — Evaluation: automated metrics on held-out test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477A"/>
                </a:solidFill>
              </a:defRPr>
            </a:pPr>
            <a:r>
              <a:t>Evaluation Metrics (Numerical)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Retrieval Recall@5 — is the correct chunk in top-5 results?</a:t>
            </a:r>
          </a:p>
          <a:p>
            <a:pPr>
              <a:defRPr sz="2000"/>
            </a:pPr>
            <a:r>
              <a:t>Mean Reciprocal Rank (MRR) — rank of first relevant chunk.</a:t>
            </a:r>
          </a:p>
          <a:p>
            <a:pPr>
              <a:defRPr sz="2000"/>
            </a:pPr>
            <a:r>
              <a:t>ROUGE-L — overlap between generated and reference answers.</a:t>
            </a:r>
          </a:p>
          <a:p>
            <a:pPr>
              <a:defRPr sz="2000"/>
            </a:pPr>
            <a:r>
              <a:t>Latency — mean and p95 response time per query (seconds).</a:t>
            </a:r>
          </a:p>
          <a:p>
            <a:pPr>
              <a:defRPr sz="2000"/>
            </a:pPr>
            <a:r>
              <a:t>Faithfulness (sample) — manual check: is answer supported by context?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477A"/>
                </a:solidFill>
              </a:defRPr>
            </a:pPr>
            <a:r>
              <a:t>Expected Results (Targets)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Recall@5  &gt; 0.70</a:t>
            </a:r>
          </a:p>
          <a:p>
            <a:pPr>
              <a:defRPr sz="2000"/>
            </a:pPr>
            <a:r>
              <a:t>MRR       &gt; 0.55</a:t>
            </a:r>
          </a:p>
          <a:p>
            <a:pPr>
              <a:defRPr sz="2000"/>
            </a:pPr>
            <a:r>
              <a:t>ROUGE-L   &gt; 0.35</a:t>
            </a:r>
          </a:p>
          <a:p>
            <a:pPr>
              <a:defRPr sz="2000"/>
            </a:pPr>
            <a:r>
              <a:t>Avg latency &lt; 5 s on CPU (or &lt; 2 s with GPU)</a:t>
            </a:r>
          </a:p>
          <a:p>
            <a:pPr>
              <a:defRPr sz="2000"/>
            </a:pPr>
            <a:r>
              <a:t>Results saved as CSV/JSON and plotted in the final report.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477A"/>
                </a:solidFill>
              </a:defRPr>
            </a:pPr>
            <a:r>
              <a:t>Live Demo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Start Ollama + open Streamlit app in the browser.</a:t>
            </a:r>
          </a:p>
          <a:p>
            <a:pPr>
              <a:defRPr sz="2000"/>
            </a:pPr>
            <a:r>
              <a:t>Demo Q1: "What are common side effects of aspirin?"</a:t>
            </a:r>
          </a:p>
          <a:p>
            <a:pPr>
              <a:defRPr sz="2000"/>
            </a:pPr>
            <a:r>
              <a:t>Demo Q2: "What is hypertension?"</a:t>
            </a:r>
          </a:p>
          <a:p>
            <a:pPr>
              <a:defRPr sz="2000"/>
            </a:pPr>
            <a:r>
              <a:t>Demo Q3: "How is diabetes diagnosed?"</a:t>
            </a:r>
          </a:p>
          <a:p>
            <a:pPr>
              <a:defRPr sz="2000"/>
            </a:pPr>
            <a:r>
              <a:t>Show: answer, cited source chunks, retrieval score, response time.</a:t>
            </a:r>
          </a:p>
          <a:p>
            <a:pPr>
              <a:defRPr sz="2000"/>
            </a:pPr>
            <a:r>
              <a:t>Discuss one failure case (vague question) and system limitations.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477A"/>
                </a:solidFill>
              </a:defRPr>
            </a:pPr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Week 1: Dataset pipeline + ChromaDB index + retrieval smoke test.</a:t>
            </a:r>
          </a:p>
          <a:p>
            <a:pPr>
              <a:defRPr sz="2000"/>
            </a:pPr>
            <a:r>
              <a:t>Week 2: RAG pipeline + Ollama integration + Streamlit UI.</a:t>
            </a:r>
          </a:p>
          <a:p>
            <a:pPr>
              <a:defRPr sz="2000"/>
            </a:pPr>
            <a:r>
              <a:t>Week 3: Evaluation scripts, results tables, report, demo rehearsal.</a:t>
            </a:r>
          </a:p>
          <a:p>
            <a:pPr>
              <a:defRPr sz="2000"/>
            </a:pPr>
            <a:r>
              <a:t>Final demo &amp; report submission: 17 June 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477A"/>
                </a:solidFill>
              </a:defRPr>
            </a:pPr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Slow inference on CPU → use smaller Ollama model (llama3.2:1b).</a:t>
            </a:r>
          </a:p>
          <a:p>
            <a:pPr>
              <a:defRPr sz="2000"/>
            </a:pPr>
            <a:r>
              <a:t>Low retrieval accuracy → tune chunk size and overlap.</a:t>
            </a:r>
          </a:p>
          <a:p>
            <a:pPr>
              <a:defRPr sz="2000"/>
            </a:pPr>
            <a:r>
              <a:t>Hallucinations → strict prompt: "answer only from context".</a:t>
            </a:r>
          </a:p>
          <a:p>
            <a:pPr>
              <a:defRPr sz="2000"/>
            </a:pPr>
            <a:r>
              <a:t>Ethical use → clear disclaimer; informational scope only.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477A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MedAssist Local demonstrates Local LLM + RAG in healthcare.</a:t>
            </a:r>
          </a:p>
          <a:p>
            <a:pPr>
              <a:defRPr sz="2000"/>
            </a:pPr>
            <a:r>
              <a:t>Private, source-grounded Q&amp;A without cloud dependency.</a:t>
            </a:r>
          </a:p>
          <a:p>
            <a:pPr>
              <a:defRPr sz="2000"/>
            </a:pPr>
            <a:r>
              <a:t>Numerical evaluation on retrieval and generation quality.</a:t>
            </a:r>
          </a:p>
          <a:p>
            <a:pPr>
              <a:defRPr sz="2000"/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