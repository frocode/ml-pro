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healthc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926080" cy="411480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Technical Track 1  •  Local LLM +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MedAssist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B4A6"/>
                </a:solidFill>
              </a:defRPr>
            </a:pPr>
            <a:r>
              <a:t>Private Healthcare Q&amp;A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Retrieval-Augmented Generation  •  Ollama  •  ChromaDB  •  Streamlit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120640"/>
            <a:ext cx="4114800" cy="50292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[Your Name(s)]  |  June 2026  |  University ML Final Lab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852160"/>
            <a:ext cx="1737360" cy="365760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Healthcare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5852160"/>
            <a:ext cx="1737360" cy="365760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Privacy-First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5852160"/>
            <a:ext cx="1737360" cy="365760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Open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5852160"/>
            <a:ext cx="1737360" cy="365760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Numerical Eval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Presentation Agenda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5778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02920" cy="502920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184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B1D3A"/>
                </a:solidFill>
              </a:defRPr>
            </a:pPr>
            <a:r>
              <a:t>Problem &amp;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116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A7A"/>
                </a:solidFill>
              </a:defRPr>
            </a:pPr>
            <a:r>
              <a:t>Why healthcare needs local, cited AI answers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55778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60" y="1645920"/>
            <a:ext cx="502920" cy="502920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6184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B1D3A"/>
                </a:solidFill>
              </a:defRPr>
            </a:pPr>
            <a:r>
              <a:t>Technical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0116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A7A"/>
                </a:solidFill>
              </a:defRPr>
            </a:pPr>
            <a:r>
              <a:t>RAG architecture and local LLM deployment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08960"/>
            <a:ext cx="55778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3337560"/>
            <a:ext cx="502920" cy="502920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3101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B1D3A"/>
                </a:solidFill>
              </a:defRPr>
            </a:pPr>
            <a:r>
              <a:t>Dataset &amp; 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703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A7A"/>
                </a:solidFill>
              </a:defRPr>
            </a:pPr>
            <a:r>
              <a:t>MedQuAD corpus and indexing pipeline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108960"/>
            <a:ext cx="55778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37960" y="3337560"/>
            <a:ext cx="502920" cy="502920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3101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B1D3A"/>
                </a:solidFill>
              </a:defRPr>
            </a:pPr>
            <a:r>
              <a:t>Implementation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703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A7A"/>
                </a:solidFill>
              </a:defRPr>
            </a:pPr>
            <a:r>
              <a:t>Four development phases with deliverables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800600"/>
            <a:ext cx="55778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5029200"/>
            <a:ext cx="502920" cy="502920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0017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B1D3A"/>
                </a:solidFill>
              </a:defRPr>
            </a:pPr>
            <a:r>
              <a:t>Evaluation &amp;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3949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A7A"/>
                </a:solidFill>
              </a:defRPr>
            </a:pPr>
            <a:r>
              <a:t>Numerical performance measurement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800600"/>
            <a:ext cx="55778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37960" y="5029200"/>
            <a:ext cx="502920" cy="502920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50017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B1D3A"/>
                </a:solidFill>
              </a:defRPr>
            </a:pPr>
            <a:r>
              <a:t>Demo, Timeline &amp; Conclusion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53949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A7A"/>
                </a:solidFill>
              </a:defRPr>
            </a:pPr>
            <a:r>
              <a:t>Live demo plan and project schedule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A"/>
                </a:solidFill>
              </a:defRPr>
            </a:pPr>
            <a:r>
              <a:t>MedAssist Local  |  ML Final Project  |  Track 1: Local LLM + RAG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ctor_cons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A6"/>
                </a:solidFill>
              </a:defRPr>
            </a:pPr>
            <a: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Background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Understanding the problem and defining project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754880"/>
            <a:ext cx="2286000" cy="64008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Problem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4A6"/>
                </a:solidFill>
              </a:defRPr>
            </a:pPr>
            <a:r>
              <a:t>The challenge of finding trustworthy medical information</a:t>
            </a:r>
          </a:p>
        </p:txBody>
      </p:sp>
      <p:pic>
        <p:nvPicPr>
          <p:cNvPr id="7" name="Picture 6" descr="doctor_cons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02920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52160" y="1417320"/>
            <a:ext cx="58521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5544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A6"/>
                </a:solidFill>
              </a:defRPr>
            </a:pPr>
            <a:r>
              <a:t>47,000+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69164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A7A"/>
                </a:solidFill>
              </a:defRPr>
            </a:pPr>
            <a:r>
              <a:t>Medical Q&amp;A pairs</a:t>
            </a:r>
            <a:br/>
            <a:r>
              <a:t>in MedQuAD alone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3017520"/>
            <a:ext cx="58521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31546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A6"/>
                </a:solidFill>
              </a:defRPr>
            </a:pPr>
            <a:r>
              <a:t>12,000+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9184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A7A"/>
                </a:solidFill>
              </a:defRPr>
            </a:pPr>
            <a:r>
              <a:t>NIH health topics</a:t>
            </a:r>
            <a:br/>
            <a:r>
              <a:t>covered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4617720"/>
            <a:ext cx="58521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47548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A6"/>
                </a:solidFill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89204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A7A"/>
                </a:solidFill>
              </a:defRPr>
            </a:pPr>
            <a:r>
              <a:t>Local — data never</a:t>
            </a:r>
            <a:br/>
            <a:r>
              <a:t>leaves your machine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553212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B1D3A"/>
                </a:solidFill>
              </a:defRPr>
            </a:pPr>
            <a:r>
              <a:t>Cloud AI APIs expose sensitive health queries to third parties.</a:t>
            </a:r>
          </a:p>
          <a:p>
            <a:pPr>
              <a:spcAft>
                <a:spcPts val="800"/>
              </a:spcAft>
              <a:defRPr sz="1300">
                <a:solidFill>
                  <a:srgbClr val="0B1D3A"/>
                </a:solidFill>
              </a:defRPr>
            </a:pPr>
            <a:r>
              <a:t>LLMs alone can hallucinate medical facts without source grounding.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A"/>
                </a:solidFill>
              </a:defRPr>
            </a:pPr>
            <a:r>
              <a:t>MedAssist Local  |  ML Final Project  |  Track 1: Local LLM + RAG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Project Scope &amp;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577840" cy="2148840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Application 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Healthcare informational Q&amp;A</a:t>
            </a:r>
            <a:br/>
            <a:r>
              <a:t>(drug info, conditions, symptoms)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577840" cy="214884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Technical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Local LLM + RAG</a:t>
            </a:r>
            <a:br/>
            <a:r>
              <a:t>(Ollama + ChromaDB + Streamlit)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86200"/>
            <a:ext cx="5577840" cy="2148840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Privacy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100% offline inference</a:t>
            </a:r>
            <a:br/>
            <a:r>
              <a:t>No external API calls required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886200"/>
            <a:ext cx="5577840" cy="214884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7548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Numerical metrics:</a:t>
            </a:r>
            <a:br/>
            <a:r>
              <a:t>Recall@k, MRR, ROUGE-L, Latency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6263640"/>
            <a:ext cx="11155680" cy="41148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56004"/>
                </a:solidFill>
              </a:defRPr>
            </a:pPr>
            <a:r>
              <a:t>⚠  Disclaimer: Informational use only — not a substitute for professional medical advice.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A"/>
                </a:solidFill>
              </a:defRPr>
            </a:pPr>
            <a:r>
              <a:t>MedAssist Local  |  ML Final Project  |  Track 1: Local LLM + RAG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_br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A6"/>
                </a:solidFill>
              </a:defRPr>
            </a:pPr>
            <a: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Technical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RAG architecture, local LLM, and system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754880"/>
            <a:ext cx="2286000" cy="64008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Why Local LLM + RAG?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4A6"/>
                </a:solidFill>
              </a:defRPr>
            </a:pPr>
            <a:r>
              <a:t>Combining retrieval and generation for trustworthy answers</a:t>
            </a:r>
          </a:p>
        </p:txBody>
      </p:sp>
      <p:pic>
        <p:nvPicPr>
          <p:cNvPr id="7" name="Picture 6" descr="rag_vs_l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430000" cy="4915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A"/>
                </a:solidFill>
              </a:defRPr>
            </a:pPr>
            <a:r>
              <a:t>MedAssist Local  |  ML Final Project  |  Track 1: Local LLM + RAG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4A6"/>
                </a:solidFill>
              </a:defRPr>
            </a:pPr>
            <a:r>
              <a:t>End-to-end RAG pipeline from question to cited answer</a:t>
            </a:r>
          </a:p>
        </p:txBody>
      </p:sp>
      <p:pic>
        <p:nvPicPr>
          <p:cNvPr id="7" name="Picture 6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587653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6172200"/>
            <a:ext cx="1828800" cy="384048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1. User asks via Streamlit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6172200"/>
            <a:ext cx="1828800" cy="384048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2. Embed query (384-dim)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6172200"/>
            <a:ext cx="1828800" cy="384048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3. Retrieve Top-5 chunks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6172200"/>
            <a:ext cx="1828800" cy="384048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4. Build grounded prompt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6172200"/>
            <a:ext cx="1828800" cy="384048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5. Ollama generates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95560" y="6172200"/>
            <a:ext cx="1828800" cy="384048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6. Return answer + citations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A"/>
                </a:solidFill>
              </a:defRPr>
            </a:pPr>
            <a:r>
              <a:t>MedAssist Local  |  ML Final Project  |  Track 1: Local LLM + RAG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Prompt Engineering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4A6"/>
                </a:solidFill>
              </a:defRPr>
            </a:pPr>
            <a:r>
              <a:t>Constraining the LLM to grounded, cited responses</a:t>
            </a:r>
          </a:p>
        </p:txBody>
      </p:sp>
      <p:pic>
        <p:nvPicPr>
          <p:cNvPr id="7" name="Picture 6" descr="ai_br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438912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120640" y="1417320"/>
            <a:ext cx="6583680" cy="4114800"/>
          </a:xfrm>
          <a:prstGeom prst="roundRect">
            <a:avLst/>
          </a:prstGeom>
          <a:solidFill>
            <a:srgbClr val="1E1E2E"/>
          </a:solidFill>
          <a:ln>
            <a:solidFill>
              <a:srgbClr val="00B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A8E6CF"/>
                </a:solidFill>
                <a:latin typeface="Consolas"/>
              </a:defRPr>
            </a:pPr>
            <a:r>
              <a:t>SYSTEM:</a:t>
            </a:r>
            <a:br/>
            <a:r>
              <a:t>You are MedAssist, a medical information assistant.</a:t>
            </a:r>
            <a:br/>
            <a:r>
              <a:t>Answer ONLY using the provided context passages.</a:t>
            </a:r>
            <a:br/>
            <a:r>
              <a:t>If the context does not contain the answer, say</a:t>
            </a:r>
            <a:br/>
            <a:r>
              <a:t>"I don't have enough information in my sources."</a:t>
            </a:r>
            <a:br/>
            <a:r>
              <a:t>Always cite which source passage you used.</a:t>
            </a:r>
            <a:br/>
            <a:r>
              <a:t>This is informational only — not medical advice.</a:t>
            </a:r>
            <a:br/>
            <a:br/>
            <a:r>
              <a:t>CONTEXT:</a:t>
            </a:r>
            <a:br/>
            <a:r>
              <a:t>[Source 1] (score: 0.87) Aspirin may cause...</a:t>
            </a:r>
            <a:br/>
            <a:r>
              <a:t>[Source 2] (score: 0.82) Common side effects...</a:t>
            </a:r>
            <a:br/>
            <a:br/>
            <a:r>
              <a:t>QUESTION: What are side effects of aspirin?</a:t>
            </a:r>
            <a:br/>
            <a:br/>
            <a:r>
              <a:t>ANSWER: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566928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5A6A7A"/>
                </a:solidFill>
              </a:defRPr>
            </a:pPr>
            <a:r>
              <a:t>Temperature: 0.1 (low creativity, high factual consistency)</a:t>
            </a:r>
          </a:p>
          <a:p>
            <a:pPr>
              <a:spcAft>
                <a:spcPts val="800"/>
              </a:spcAft>
              <a:defRPr sz="1200">
                <a:solidFill>
                  <a:srgbClr val="5A6A7A"/>
                </a:solidFill>
              </a:defRPr>
            </a:pPr>
            <a:r>
              <a:t>Max tokens: 512 (concise medical answers)</a:t>
            </a:r>
          </a:p>
          <a:p>
            <a:pPr>
              <a:spcAft>
                <a:spcPts val="800"/>
              </a:spcAft>
              <a:defRPr sz="1200">
                <a:solidFill>
                  <a:srgbClr val="5A6A7A"/>
                </a:solidFill>
              </a:defRPr>
            </a:pPr>
            <a:r>
              <a:t>Top-K retrieval: 5 chunks (balance context vs. noise)</a:t>
            </a:r>
          </a:p>
          <a:p>
            <a:pPr>
              <a:spcAft>
                <a:spcPts val="800"/>
              </a:spcAft>
              <a:defRPr sz="1200">
                <a:solidFill>
                  <a:srgbClr val="5A6A7A"/>
                </a:solidFill>
              </a:defRPr>
            </a:pPr>
            <a:r>
              <a:t>Similarity threshold: 0.5 (reject irrelevant retrievals)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A"/>
                </a:solidFill>
              </a:defRPr>
            </a:pPr>
            <a:r>
              <a:t>MedAssist Local  |  ML Final Project  |  Track 1: Local LLM + RAG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pic>
        <p:nvPicPr>
          <p:cNvPr id="6" name="Picture 5" descr="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772400" cy="348265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325880"/>
            <a:ext cx="3200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3716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D3A"/>
                </a:solidFill>
              </a:defRPr>
            </a:pPr>
            <a:r>
              <a:t>Python 3.10+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1417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</a:defRPr>
            </a:pPr>
            <a:r>
              <a:t>Core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947672"/>
            <a:ext cx="3200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19933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D3A"/>
                </a:solidFill>
              </a:defRPr>
            </a:pPr>
            <a:r>
              <a:t>Ollama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0391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</a:defRPr>
            </a:pPr>
            <a:r>
              <a:t>Local LLM runtime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2569464"/>
            <a:ext cx="3200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61518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D3A"/>
                </a:solidFill>
              </a:defRPr>
            </a:pPr>
            <a:r>
              <a:t>Llama 3.2 / Mistral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6609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</a:defRPr>
            </a:pPr>
            <a:r>
              <a:t>Generation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3191256"/>
            <a:ext cx="3200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323697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D3A"/>
                </a:solidFill>
              </a:defRPr>
            </a:pPr>
            <a:r>
              <a:t>sentence-transformers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32826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</a:defRPr>
            </a:pPr>
            <a:r>
              <a:t>Embedding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3813048"/>
            <a:ext cx="3200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38587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D3A"/>
                </a:solidFill>
              </a:defRPr>
            </a:pPr>
            <a:r>
              <a:t>ChromaDB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39044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</a:defRPr>
            </a:pPr>
            <a:r>
              <a:t>Vector database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4434840"/>
            <a:ext cx="3200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44805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D3A"/>
                </a:solidFill>
              </a:defRPr>
            </a:pPr>
            <a:r>
              <a:t>Streamlit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4526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</a:defRPr>
            </a:pPr>
            <a:r>
              <a:t>Demo web UI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5056632"/>
            <a:ext cx="3200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1080" y="51023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D3A"/>
                </a:solidFill>
              </a:defRPr>
            </a:pPr>
            <a:r>
              <a:t>rouge-score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51480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</a:defRPr>
            </a:pPr>
            <a:r>
              <a:t>Answer evaluation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5678424"/>
            <a:ext cx="3200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80" y="572414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D3A"/>
                </a:solidFill>
              </a:defRPr>
            </a:pPr>
            <a:r>
              <a:t>pandas / numpy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57698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</a:defRPr>
            </a:pPr>
            <a:r>
              <a:t>Data processing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A"/>
                </a:solidFill>
              </a:defRPr>
            </a:pPr>
            <a:r>
              <a:t>MedAssist Local  |  ML Final Project  |  Track 1: Local LLM + RAG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_analyti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A6"/>
                </a:solidFill>
              </a:defRPr>
            </a:pPr>
            <a: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Data &amp;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Dataset sourcing, preprocessing, and development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754880"/>
            <a:ext cx="2286000" cy="64008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Dataset — MedQuAD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4A6"/>
                </a:solidFill>
              </a:defRPr>
            </a:pPr>
            <a:r>
              <a:t>NIH-sourced medical Q&amp;A from Hugging Face</a:t>
            </a:r>
          </a:p>
        </p:txBody>
      </p:sp>
      <p:pic>
        <p:nvPicPr>
          <p:cNvPr id="7" name="Picture 6" descr="dat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430000" cy="37889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749039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B1D3A"/>
                </a:solidFill>
              </a:defRPr>
            </a:pPr>
            <a:r>
              <a:t>Source: lavita/MedQuAD on Hugging Face — 47,457 question-answer pairs</a:t>
            </a:r>
          </a:p>
          <a:p>
            <a:pPr>
              <a:spcAft>
                <a:spcPts val="800"/>
              </a:spcAft>
              <a:defRPr sz="1300">
                <a:solidFill>
                  <a:srgbClr val="0B1D3A"/>
                </a:solidFill>
              </a:defRPr>
            </a:pPr>
            <a:r>
              <a:t>Origin: NIH websites (GARD, GHR, NIDDK, NINDS, NCI, NHLBI, etc.)</a:t>
            </a:r>
          </a:p>
          <a:p>
            <a:pPr>
              <a:spcAft>
                <a:spcPts val="800"/>
              </a:spcAft>
              <a:defRPr sz="1300">
                <a:solidFill>
                  <a:srgbClr val="0B1D3A"/>
                </a:solidFill>
              </a:defRPr>
            </a:pPr>
            <a:r>
              <a:t>Chunking: 300–500 tokens per chunk, 50-token overlap for context continuity</a:t>
            </a:r>
          </a:p>
          <a:p>
            <a:pPr>
              <a:spcAft>
                <a:spcPts val="800"/>
              </a:spcAft>
              <a:defRPr sz="1300">
                <a:solidFill>
                  <a:srgbClr val="0B1D3A"/>
                </a:solidFill>
              </a:defRPr>
            </a:pPr>
            <a:r>
              <a:t>Embeddings: all-MiniLM-L6-v2 produces 384-dimensional dense vectors</a:t>
            </a:r>
          </a:p>
          <a:p>
            <a:pPr>
              <a:spcAft>
                <a:spcPts val="800"/>
              </a:spcAft>
              <a:defRPr sz="1300">
                <a:solidFill>
                  <a:srgbClr val="0B1D3A"/>
                </a:solidFill>
              </a:defRPr>
            </a:pPr>
            <a:r>
              <a:t>Index target: ~1,000–5,000 chunks stored in ChromaDB with full metadata</a:t>
            </a:r>
          </a:p>
          <a:p>
            <a:pPr>
              <a:spcAft>
                <a:spcPts val="800"/>
              </a:spcAft>
              <a:defRPr sz="1300">
                <a:solidFill>
                  <a:srgbClr val="0B1D3A"/>
                </a:solidFill>
              </a:defRPr>
            </a:pPr>
            <a:r>
              <a:t>Optional extension: WHO fact sheets and public drug leaflets (PDF →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A"/>
                </a:solidFill>
              </a:defRPr>
            </a:pPr>
            <a:r>
              <a:t>MedAssist Local  |  ML Final Project  |  Track 1: Local LLM + RAG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Implementation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4A6"/>
                </a:solidFill>
              </a:defRPr>
            </a:pPr>
            <a:r>
              <a:t>Four structured development phases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6692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669280" cy="45720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533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Phase 1 — Data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0B1D3A"/>
                </a:solidFill>
              </a:defRPr>
            </a:pPr>
            <a:r>
              <a:t>• Download MedQuAD from Hugging Face datasets API</a:t>
            </a:r>
          </a:p>
          <a:p>
            <a:pPr>
              <a:spcAft>
                <a:spcPts val="300"/>
              </a:spcAft>
              <a:defRPr sz="1000">
                <a:solidFill>
                  <a:srgbClr val="0B1D3A"/>
                </a:solidFill>
              </a:defRPr>
            </a:pPr>
            <a:r>
              <a:t>• Clean HTML tags, normalize whitespace, deduplicate entries</a:t>
            </a:r>
          </a:p>
          <a:p>
            <a:pPr>
              <a:spcAft>
                <a:spcPts val="300"/>
              </a:spcAft>
              <a:defRPr sz="1000">
                <a:solidFill>
                  <a:srgbClr val="0B1D3A"/>
                </a:solidFill>
              </a:defRPr>
            </a:pPr>
            <a:r>
              <a:t>• Split documents into overlapping chunks (300–500 tokens)</a:t>
            </a:r>
          </a:p>
          <a:p>
            <a:pPr>
              <a:spcAft>
                <a:spcPts val="300"/>
              </a:spcAft>
              <a:defRPr sz="1000">
                <a:solidFill>
                  <a:srgbClr val="0B1D3A"/>
                </a:solidFill>
              </a:defRPr>
            </a:pPr>
            <a:r>
              <a:t>• Generate embeddings and build ChromaDB persistent index</a:t>
            </a:r>
          </a:p>
          <a:p>
            <a:pPr>
              <a:spcAft>
                <a:spcPts val="300"/>
              </a:spcAft>
              <a:defRPr sz="1000">
                <a:solidFill>
                  <a:srgbClr val="0B1D3A"/>
                </a:solidFill>
              </a:defRPr>
            </a:pPr>
            <a:r>
              <a:t>• Deliverable: indexed corpus + ingestion statistics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56692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280160"/>
            <a:ext cx="566928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533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Phase 2 — RAG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0B1D3A"/>
                </a:solidFill>
              </a:defRPr>
            </a:pPr>
            <a:r>
              <a:t>• Implement semantic search with configurable Top-K (default K=5)</a:t>
            </a:r>
          </a:p>
          <a:p>
            <a:pPr>
              <a:spcAft>
                <a:spcPts val="300"/>
              </a:spcAft>
              <a:defRPr sz="1000">
                <a:solidFill>
                  <a:srgbClr val="0B1D3A"/>
                </a:solidFill>
              </a:defRPr>
            </a:pPr>
            <a:r>
              <a:t>• Design system prompt: answer only from provided context</a:t>
            </a:r>
          </a:p>
          <a:p>
            <a:pPr>
              <a:spcAft>
                <a:spcPts val="300"/>
              </a:spcAft>
              <a:defRPr sz="1000">
                <a:solidFill>
                  <a:srgbClr val="0B1D3A"/>
                </a:solidFill>
              </a:defRPr>
            </a:pPr>
            <a:r>
              <a:t>• Integrate Ollama API for local text generation</a:t>
            </a:r>
          </a:p>
          <a:p>
            <a:pPr>
              <a:spcAft>
                <a:spcPts val="300"/>
              </a:spcAft>
              <a:defRPr sz="1000">
                <a:solidFill>
                  <a:srgbClr val="0B1D3A"/>
                </a:solidFill>
              </a:defRPr>
            </a:pPr>
            <a:r>
              <a:t>• Add similarity score threshold to filter low-quality retrievals</a:t>
            </a:r>
          </a:p>
          <a:p>
            <a:pPr>
              <a:spcAft>
                <a:spcPts val="300"/>
              </a:spcAft>
              <a:defRPr sz="1000">
                <a:solidFill>
                  <a:srgbClr val="0B1D3A"/>
                </a:solidFill>
              </a:defRPr>
            </a:pPr>
            <a:r>
              <a:t>• Deliverable: working rag.py CLI that answers questions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977639"/>
            <a:ext cx="56692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977639"/>
            <a:ext cx="5669280" cy="4572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50791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Phase 3 — Demo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26279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0B1D3A"/>
                </a:solidFill>
              </a:defRPr>
            </a:pPr>
            <a:r>
              <a:t>• Build Streamlit interface with question input and history</a:t>
            </a:r>
          </a:p>
          <a:p>
            <a:pPr>
              <a:spcAft>
                <a:spcPts val="300"/>
              </a:spcAft>
              <a:defRPr sz="1000">
                <a:solidFill>
                  <a:srgbClr val="0B1D3A"/>
                </a:solidFill>
              </a:defRPr>
            </a:pPr>
            <a:r>
              <a:t>• Display answer, source passages, and cosine similarity scores</a:t>
            </a:r>
          </a:p>
          <a:p>
            <a:pPr>
              <a:spcAft>
                <a:spcPts val="300"/>
              </a:spcAft>
              <a:defRPr sz="1000">
                <a:solidFill>
                  <a:srgbClr val="0B1D3A"/>
                </a:solidFill>
              </a:defRPr>
            </a:pPr>
            <a:r>
              <a:t>• Show real-time latency counter and retrieval debug panel</a:t>
            </a:r>
          </a:p>
          <a:p>
            <a:pPr>
              <a:spcAft>
                <a:spcPts val="300"/>
              </a:spcAft>
              <a:defRPr sz="1000">
                <a:solidFill>
                  <a:srgbClr val="0B1D3A"/>
                </a:solidFill>
              </a:defRPr>
            </a:pPr>
            <a:r>
              <a:t>• Add medical disclaimer banner and example question buttons</a:t>
            </a:r>
          </a:p>
          <a:p>
            <a:pPr>
              <a:spcAft>
                <a:spcPts val="300"/>
              </a:spcAft>
              <a:defRPr sz="1000">
                <a:solidFill>
                  <a:srgbClr val="0B1D3A"/>
                </a:solidFill>
              </a:defRPr>
            </a:pPr>
            <a:r>
              <a:t>• Deliverable: browser-based live demo ready for presentation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977639"/>
            <a:ext cx="56692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977639"/>
            <a:ext cx="566928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050791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Phase 4 —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526279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0B1D3A"/>
                </a:solidFill>
              </a:defRPr>
            </a:pPr>
            <a:r>
              <a:t>• Hold out 100 MedQuAD pairs as test set (never seen during indexing)</a:t>
            </a:r>
          </a:p>
          <a:p>
            <a:pPr>
              <a:spcAft>
                <a:spcPts val="300"/>
              </a:spcAft>
              <a:defRPr sz="1000">
                <a:solidFill>
                  <a:srgbClr val="0B1D3A"/>
                </a:solidFill>
              </a:defRPr>
            </a:pPr>
            <a:r>
              <a:t>• Compute Recall@5, MRR, ROUGE-L, and latency distributions</a:t>
            </a:r>
          </a:p>
          <a:p>
            <a:pPr>
              <a:spcAft>
                <a:spcPts val="300"/>
              </a:spcAft>
              <a:defRPr sz="1000">
                <a:solidFill>
                  <a:srgbClr val="0B1D3A"/>
                </a:solidFill>
              </a:defRPr>
            </a:pPr>
            <a:r>
              <a:t>• Generate bar charts and result tables for technical report</a:t>
            </a:r>
          </a:p>
          <a:p>
            <a:pPr>
              <a:spcAft>
                <a:spcPts val="300"/>
              </a:spcAft>
              <a:defRPr sz="1000">
                <a:solidFill>
                  <a:srgbClr val="0B1D3A"/>
                </a:solidFill>
              </a:defRPr>
            </a:pPr>
            <a:r>
              <a:t>• Conduct 20-sample manual faithfulness audit</a:t>
            </a:r>
          </a:p>
          <a:p>
            <a:pPr>
              <a:spcAft>
                <a:spcPts val="300"/>
              </a:spcAft>
              <a:defRPr sz="1000">
                <a:solidFill>
                  <a:srgbClr val="0B1D3A"/>
                </a:solidFill>
              </a:defRPr>
            </a:pPr>
            <a:r>
              <a:t>• Deliverable: results/ folder with CSV, plots, and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A"/>
                </a:solidFill>
              </a:defRPr>
            </a:pPr>
            <a:r>
              <a:t>MedAssist Local  |  ML Final Project  |  Track 1: Local LLM + RAG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Repository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4A6"/>
                </a:solidFill>
              </a:defRPr>
            </a:pPr>
            <a:r>
              <a:t>Organized codebase for reproducibility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486400" cy="4846320"/>
          </a:xfrm>
          <a:prstGeom prst="roundRect">
            <a:avLst/>
          </a:prstGeom>
          <a:solidFill>
            <a:srgbClr val="1E1E2E"/>
          </a:solidFill>
          <a:ln>
            <a:solidFill>
              <a:srgbClr val="00B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8E6CF"/>
                </a:solidFill>
                <a:latin typeface="Consolas"/>
              </a:defRPr>
            </a:pPr>
            <a:r>
              <a:t>ML-pro/</a:t>
            </a:r>
            <a:br/>
            <a:r>
              <a:t>├── data/</a:t>
            </a:r>
            <a:br/>
            <a:r>
              <a:t>│   ├── raw/              # MedQuAD download</a:t>
            </a:r>
            <a:br/>
            <a:r>
              <a:t>│   └── processed/        # chunked JSONL files</a:t>
            </a:r>
            <a:br/>
            <a:r>
              <a:t>├── src/</a:t>
            </a:r>
            <a:br/>
            <a:r>
              <a:t>│   ├── ingest.py         # load &amp; chunk MedQuAD</a:t>
            </a:r>
            <a:br/>
            <a:r>
              <a:t>│   ├── embed_index.py    # build ChromaDB index</a:t>
            </a:r>
            <a:br/>
            <a:r>
              <a:t>│   ├── rag.py            # retrieve + generate</a:t>
            </a:r>
            <a:br/>
            <a:r>
              <a:t>│   └── evaluate.py       # Recall@k, MRR, ROUGE-L</a:t>
            </a:r>
            <a:br/>
            <a:r>
              <a:t>├── app/</a:t>
            </a:r>
            <a:br/>
            <a:r>
              <a:t>│   └── streamlit_app.py  # live demo UI</a:t>
            </a:r>
            <a:br/>
            <a:r>
              <a:t>├── results/</a:t>
            </a:r>
            <a:br/>
            <a:r>
              <a:t>│   ├── metrics.json      # evaluation output</a:t>
            </a:r>
            <a:br/>
            <a:r>
              <a:t>│   └── plots/            # charts for report</a:t>
            </a:r>
            <a:br/>
            <a:r>
              <a:t>├── report/               # presentation &amp; report</a:t>
            </a:r>
            <a:br/>
            <a:r>
              <a:t>├── requirements.txt</a:t>
            </a:r>
            <a:br/>
            <a:r>
              <a:t>└── README.md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394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554480"/>
            <a:ext cx="365760" cy="365760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5087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</a:defRPr>
            </a:pPr>
            <a:r>
              <a:t>Dataset Sourcing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8562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</a:defRPr>
            </a:pPr>
            <a:r>
              <a:t>MedQuAD + optional PDFs, with preprocessing logs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377440"/>
            <a:ext cx="5394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2514600"/>
            <a:ext cx="365760" cy="365760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4688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</a:defRPr>
            </a:pPr>
            <a:r>
              <a:t>Real-Time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81635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</a:defRPr>
            </a:pPr>
            <a:r>
              <a:t>Streamlit app with live Ollama inference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337560"/>
            <a:ext cx="5394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46520" y="3474720"/>
            <a:ext cx="365760" cy="365760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4290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</a:defRPr>
            </a:pPr>
            <a:r>
              <a:t>Technical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77647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</a:defRPr>
            </a:pPr>
            <a:r>
              <a:t>Architecture, training logs, evaluation tables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297680"/>
            <a:ext cx="5394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46520" y="4434840"/>
            <a:ext cx="365760" cy="365760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389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</a:defRPr>
            </a:pPr>
            <a:r>
              <a:t>Numerical 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73659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</a:defRPr>
            </a:pPr>
            <a:r>
              <a:t>Recall@5, MRR, ROUGE-L, latency benchmarks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5257800"/>
            <a:ext cx="5394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46520" y="5394960"/>
            <a:ext cx="365760" cy="365760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5349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</a:defRPr>
            </a:pPr>
            <a:r>
              <a:t>Source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69671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</a:defRPr>
            </a:pPr>
            <a:r>
              <a:t>Full reproducible pipeline on GitHub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A"/>
                </a:solidFill>
              </a:defRPr>
            </a:pPr>
            <a:r>
              <a:t>MedAssist Local  |  ML Final Project  |  Track 1: Local LLM + RAG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am_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A6"/>
                </a:solidFill>
              </a:defRPr>
            </a:pPr>
            <a: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Evaluation &amp;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Metrics, demo plan, timeline, and risk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754880"/>
            <a:ext cx="2286000" cy="64008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Evaluation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4A6"/>
                </a:solidFill>
              </a:defRPr>
            </a:pPr>
            <a:r>
              <a:t>Numerical performance measurement as required by the project brief</a:t>
            </a:r>
          </a:p>
        </p:txBody>
      </p:sp>
      <p:pic>
        <p:nvPicPr>
          <p:cNvPr id="7" name="Picture 6" descr="metric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20097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4572000"/>
            <a:ext cx="2743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B1D3A"/>
                </a:solidFill>
              </a:defRPr>
            </a:pPr>
            <a:r>
              <a:t>Recall@5 = |relevant ∩ top-5| / |relevant|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4572000"/>
            <a:ext cx="2743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B1D3A"/>
                </a:solidFill>
              </a:defRPr>
            </a:pPr>
            <a:r>
              <a:t>MRR = (1/N) Σ 1/rank_i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572000"/>
            <a:ext cx="2743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B1D3A"/>
                </a:solidFill>
              </a:defRPr>
            </a:pPr>
            <a:r>
              <a:t>ROUGE-L = LCS-based F-measure vs. reference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4572000"/>
            <a:ext cx="2743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B1D3A"/>
                </a:solidFill>
              </a:defRPr>
            </a:pPr>
            <a:r>
              <a:t>Latency = wall-clock time from query submit to full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A"/>
                </a:solidFill>
              </a:defRPr>
            </a:pPr>
            <a:r>
              <a:t>MedAssist Local  |  ML Final Project  |  Track 1: Local LLM + RAG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Live Demo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4A6"/>
                </a:solidFill>
              </a:defRPr>
            </a:pPr>
            <a:r>
              <a:t>June 17, 2026 — University Presentation</a:t>
            </a:r>
          </a:p>
        </p:txBody>
      </p:sp>
      <p:pic>
        <p:nvPicPr>
          <p:cNvPr id="7" name="Picture 6" descr="data_analyti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457200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03520" y="1371600"/>
            <a:ext cx="6400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40680" y="1508760"/>
            <a:ext cx="457200" cy="457200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4813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</a:defRPr>
            </a:pPr>
            <a:r>
              <a:t>What are common side effects of aspirin?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874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</a:defRPr>
            </a:pPr>
            <a:r>
              <a:t>Shows drug information retrieval from MedQuAD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2560320"/>
            <a:ext cx="6400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40680" y="2697480"/>
            <a:ext cx="457200" cy="457200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6700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</a:defRPr>
            </a:pPr>
            <a:r>
              <a:t>What is hypertension and how is it diagnosed?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063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</a:defRPr>
            </a:pPr>
            <a:r>
              <a:t>Shows multi-aspect medical condition explanation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749039"/>
            <a:ext cx="6400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40680" y="3886199"/>
            <a:ext cx="457200" cy="457200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858767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</a:defRPr>
            </a:pPr>
            <a:r>
              <a:t>What are the symptoms of diabetes?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2519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</a:defRPr>
            </a:pPr>
            <a:r>
              <a:t>Shows symptom list with NIH source citations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4937760"/>
            <a:ext cx="6400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40680" y="5074920"/>
            <a:ext cx="457200" cy="45720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50474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</a:defRPr>
            </a:pPr>
            <a:r>
              <a:t>Tell me about quantum physics.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5440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</a:defRPr>
            </a:pPr>
            <a:r>
              <a:t>Failure case — system refuses out-of-domain questions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6172200"/>
            <a:ext cx="6400800" cy="384048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Each demo shows: Answer  •  Source chunks  •  Similarity scores  •  Response time (ms)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A"/>
                </a:solidFill>
              </a:defRPr>
            </a:pPr>
            <a:r>
              <a:t>MedAssist Local  |  ML Final Project  |  Track 1: Local LLM + RAG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Project Timeline</a:t>
            </a:r>
          </a:p>
        </p:txBody>
      </p:sp>
      <p:pic>
        <p:nvPicPr>
          <p:cNvPr id="6" name="Picture 5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33922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3891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B1D3A"/>
                </a:solidFill>
              </a:defRPr>
            </a:pPr>
            <a:r>
              <a:t>✓  Project plan &amp; presentation submitted</a:t>
            </a:r>
          </a:p>
          <a:p>
            <a:pPr>
              <a:spcAft>
                <a:spcPts val="800"/>
              </a:spcAft>
              <a:defRPr sz="1400">
                <a:solidFill>
                  <a:srgbClr val="0B1D3A"/>
                </a:solidFill>
              </a:defRPr>
            </a:pPr>
            <a:r>
              <a:t>○  Week 1: Data pipeline complete</a:t>
            </a:r>
          </a:p>
          <a:p>
            <a:pPr>
              <a:spcAft>
                <a:spcPts val="800"/>
              </a:spcAft>
              <a:defRPr sz="1400">
                <a:solidFill>
                  <a:srgbClr val="0B1D3A"/>
                </a:solidFill>
              </a:defRPr>
            </a:pPr>
            <a:r>
              <a:t>○  Week 2: RAG + Streamlit UI working</a:t>
            </a:r>
          </a:p>
          <a:p>
            <a:pPr>
              <a:spcAft>
                <a:spcPts val="800"/>
              </a:spcAft>
              <a:defRPr sz="1400">
                <a:solidFill>
                  <a:srgbClr val="0B1D3A"/>
                </a:solidFill>
              </a:defRPr>
            </a:pPr>
            <a:r>
              <a:t>○  Week 3: Evaluation results + report draft</a:t>
            </a:r>
          </a:p>
          <a:p>
            <a:pPr>
              <a:spcAft>
                <a:spcPts val="800"/>
              </a:spcAft>
              <a:defRPr sz="1400">
                <a:solidFill>
                  <a:srgbClr val="0B1D3A"/>
                </a:solidFill>
              </a:defRPr>
            </a:pPr>
            <a:r>
              <a:t>★  June 17: Live demo + final report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A"/>
                </a:solidFill>
              </a:defRPr>
            </a:pPr>
            <a:r>
              <a:t>MedAssist Local  |  ML Final Project  |  Track 1: Local LLM + RAG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Risks &amp; Mitigations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111556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09728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A623"/>
                </a:solidFill>
              </a:defRPr>
            </a:pPr>
            <a:r>
              <a:t>Slow CPU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</a:defRPr>
            </a:pPr>
            <a:r>
              <a:t>Risk: Ollama responses take &gt;10s on weak 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3716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B1D3A"/>
                </a:solidFill>
              </a:defRPr>
            </a:pPr>
            <a:r>
              <a:t>→ Use llama3.2:1b or mistral:7b-q4; limit max_tokens to 256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31720"/>
            <a:ext cx="111556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331720"/>
            <a:ext cx="109728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</a:defRPr>
            </a:pPr>
            <a:r>
              <a:t>Low retrieval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423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</a:defRPr>
            </a:pPr>
            <a:r>
              <a:t>Risk: Wrong chunks retrieved → incorrect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4231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B1D3A"/>
                </a:solidFill>
              </a:defRPr>
            </a:pPr>
            <a:r>
              <a:t>→ Tune chunk size (256/512), increase overlap, try bge-small-en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83279"/>
            <a:ext cx="111556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383279"/>
            <a:ext cx="109728" cy="9144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747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B61FF"/>
                </a:solidFill>
              </a:defRPr>
            </a:pPr>
            <a:r>
              <a:t>LLM hallucination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47471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</a:defRPr>
            </a:pPr>
            <a:r>
              <a:t>Risk: Model invents facts not in retrieved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474719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B1D3A"/>
                </a:solidFill>
              </a:defRPr>
            </a:pPr>
            <a:r>
              <a:t>→ Strict system prompt + temperature 0.1 + faithfulness audit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34840"/>
            <a:ext cx="111556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434840"/>
            <a:ext cx="109728" cy="914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90D9"/>
                </a:solidFill>
              </a:defRPr>
            </a:pPr>
            <a:r>
              <a:t>Ethical / legal concerns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526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</a:defRPr>
            </a:pPr>
            <a:r>
              <a:t>Risk: Users may treat output as medical diagnosis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5262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B1D3A"/>
                </a:solidFill>
              </a:defRPr>
            </a:pPr>
            <a:r>
              <a:t>→ Prominent disclaimer; scope limited to educational Q&amp;A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86400"/>
            <a:ext cx="111556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486400"/>
            <a:ext cx="109728" cy="91440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77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A6"/>
                </a:solidFill>
              </a:defRPr>
            </a:pPr>
            <a:r>
              <a:t>Dataset bias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577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</a:defRPr>
            </a:pPr>
            <a:r>
              <a:t>Risk: MedQuAD is English-only, US-centric NIH content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55778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B1D3A"/>
                </a:solidFill>
              </a:defRPr>
            </a:pPr>
            <a:r>
              <a:t>→ Document limitation in report; note future multilingual extension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A7A"/>
                </a:solidFill>
              </a:defRPr>
            </a:pPr>
            <a:r>
              <a:t>MedAssist Local  |  ML Final Project  |  Track 1: Local LLM + RAG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ivacy_lo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✓  MedAssist Local delivers private, source-grounded healthcare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✓  Local LLM + RAG = no cloud dependency, full data privacy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✓  MedQuAD provides a rich, NIH-backed medical knowledge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✓  Rigorous numerical evaluation meets all project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✓  Live Streamlit demo ready for June 17, 2026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4572000" cy="502920"/>
          </a:xfrm>
          <a:prstGeom prst="round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Thank You  —  Questions?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A6"/>
                </a:solidFill>
              </a:defRPr>
            </a:pPr>
            <a:r>
              <a:t>[Your Name]  •  [your.email@university.edu]  •  GitHub: [your-repo]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